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Ubuntu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Ubuntu-regular.fntdata"/><Relationship Id="rId21" Type="http://schemas.openxmlformats.org/officeDocument/2006/relationships/slide" Target="slides/slide16.xml"/><Relationship Id="rId24" Type="http://schemas.openxmlformats.org/officeDocument/2006/relationships/font" Target="fonts/Ubuntu-italic.fntdata"/><Relationship Id="rId23" Type="http://schemas.openxmlformats.org/officeDocument/2006/relationships/font" Target="fonts/Ubuntu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font" Target="fonts/Ubuntu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677ec2729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677ec272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64ddce6c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64ddce6c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33815cf3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33815cf3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33815cf3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33815cf3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677ec272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677ec272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33815cf3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33815cf3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677ec272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677ec272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33815cf3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33815cf3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677ec272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677ec272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677ec272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677ec272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677ec272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677ec272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677ec272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677ec272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677ec272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677ec272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677ec2729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677ec2729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677ec2729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677ec2729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2924350" y="0"/>
            <a:ext cx="57024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000">
                <a:latin typeface="Ubuntu"/>
                <a:ea typeface="Ubuntu"/>
                <a:cs typeface="Ubuntu"/>
                <a:sym typeface="Ubuntu"/>
              </a:rPr>
              <a:t>Κοινή Διαχείριση Πόρων σε Επίπεδο Δήμων 	και Πόλεων με Νέες Τεχνολογίες - EfficienCity</a:t>
            </a:r>
            <a:endParaRPr sz="20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141075" y="3083050"/>
            <a:ext cx="3624300" cy="14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78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Άγγελος Φίκιας - iis23006 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Ιωάννης Τσιρκινίδης - iis23172 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Αλέξανδρος Λαζαρίδης - iis23177 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Βάιος Παλιούρας - iis23188 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36" name="Google Shape;136;p13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2425" y="1562500"/>
            <a:ext cx="3273725" cy="264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ctrTitle"/>
          </p:nvPr>
        </p:nvSpPr>
        <p:spPr>
          <a:xfrm>
            <a:off x="3687800" y="71175"/>
            <a:ext cx="4156200" cy="4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000">
                <a:latin typeface="Ubuntu"/>
                <a:ea typeface="Ubuntu"/>
                <a:cs typeface="Ubuntu"/>
                <a:sym typeface="Ubuntu"/>
              </a:rPr>
              <a:t>Προβλημα</a:t>
            </a:r>
            <a:endParaRPr sz="20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42" name="Google Shape;142;p14"/>
          <p:cNvSpPr txBox="1"/>
          <p:nvPr>
            <p:ph idx="1" type="subTitle"/>
          </p:nvPr>
        </p:nvSpPr>
        <p:spPr>
          <a:xfrm>
            <a:off x="3092575" y="1104075"/>
            <a:ext cx="5682900" cy="3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l">
                <a:latin typeface="Ubuntu"/>
                <a:ea typeface="Ubuntu"/>
                <a:cs typeface="Ubuntu"/>
                <a:sym typeface="Ubuntu"/>
              </a:rPr>
              <a:t>Το πρόβλημα που λύνεται:</a:t>
            </a:r>
            <a:endParaRPr b="1"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Char char="●"/>
            </a:pPr>
            <a:r>
              <a:rPr lang="el">
                <a:latin typeface="Ubuntu"/>
                <a:ea typeface="Ubuntu"/>
                <a:cs typeface="Ubuntu"/>
                <a:sym typeface="Ubuntu"/>
              </a:rPr>
              <a:t>Οι δήμοι σήμερα λειτουργούν με αποσπασματικά συστήματα, χωρίς πλήρη </a:t>
            </a:r>
            <a:r>
              <a:rPr b="1" lang="el">
                <a:latin typeface="Ubuntu"/>
                <a:ea typeface="Ubuntu"/>
                <a:cs typeface="Ubuntu"/>
                <a:sym typeface="Ubuntu"/>
              </a:rPr>
              <a:t>διαφάνεια</a:t>
            </a:r>
            <a:r>
              <a:rPr lang="el">
                <a:latin typeface="Ubuntu"/>
                <a:ea typeface="Ubuntu"/>
                <a:cs typeface="Ubuntu"/>
                <a:sym typeface="Ubuntu"/>
              </a:rPr>
              <a:t> και ακεραιότητα.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Char char="●"/>
            </a:pPr>
            <a:r>
              <a:rPr lang="el">
                <a:latin typeface="Ubuntu"/>
                <a:ea typeface="Ubuntu"/>
                <a:cs typeface="Ubuntu"/>
                <a:sym typeface="Ubuntu"/>
              </a:rPr>
              <a:t>Ο εξοπλισμός παραμένει συχνά ανεκμετάλλευτος, προκαλώντας </a:t>
            </a:r>
            <a:r>
              <a:rPr b="1" lang="el">
                <a:latin typeface="Ubuntu"/>
                <a:ea typeface="Ubuntu"/>
                <a:cs typeface="Ubuntu"/>
                <a:sym typeface="Ubuntu"/>
              </a:rPr>
              <a:t>περιττές δαπάνες</a:t>
            </a:r>
            <a:r>
              <a:rPr lang="el">
                <a:latin typeface="Ubuntu"/>
                <a:ea typeface="Ubuntu"/>
                <a:cs typeface="Ubuntu"/>
                <a:sym typeface="Ubuntu"/>
              </a:rPr>
              <a:t> για νέες αγορές.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Char char="●"/>
            </a:pPr>
            <a:r>
              <a:rPr lang="el">
                <a:latin typeface="Ubuntu"/>
                <a:ea typeface="Ubuntu"/>
                <a:cs typeface="Ubuntu"/>
                <a:sym typeface="Ubuntu"/>
              </a:rPr>
              <a:t>Δεν υπάρχει αξιόπιστος τρόπος </a:t>
            </a:r>
            <a:r>
              <a:rPr b="1" lang="el">
                <a:latin typeface="Ubuntu"/>
                <a:ea typeface="Ubuntu"/>
                <a:cs typeface="Ubuntu"/>
                <a:sym typeface="Ubuntu"/>
              </a:rPr>
              <a:t>καταγραφής </a:t>
            </a:r>
            <a:r>
              <a:rPr lang="el">
                <a:latin typeface="Ubuntu"/>
                <a:ea typeface="Ubuntu"/>
                <a:cs typeface="Ubuntu"/>
                <a:sym typeface="Ubuntu"/>
              </a:rPr>
              <a:t>ενεργειών ή αποτελεσματικής </a:t>
            </a:r>
            <a:r>
              <a:rPr b="1" lang="el">
                <a:latin typeface="Ubuntu"/>
                <a:ea typeface="Ubuntu"/>
                <a:cs typeface="Ubuntu"/>
                <a:sym typeface="Ubuntu"/>
              </a:rPr>
              <a:t>ανταλλαγής</a:t>
            </a:r>
            <a:r>
              <a:rPr lang="el">
                <a:latin typeface="Ubuntu"/>
                <a:ea typeface="Ubuntu"/>
                <a:cs typeface="Ubuntu"/>
                <a:sym typeface="Ubuntu"/>
              </a:rPr>
              <a:t> πόρων μεταξύ δήμων.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Char char="●"/>
            </a:pPr>
            <a:r>
              <a:rPr lang="el">
                <a:latin typeface="Ubuntu"/>
                <a:ea typeface="Ubuntu"/>
                <a:cs typeface="Ubuntu"/>
                <a:sym typeface="Ubuntu"/>
              </a:rPr>
              <a:t>Η σημερινή κατάσταση περιορίζει την αποδοτικότητα, την συνεργασία και την ταχύτητα ανταπόκρισης στις ανάγκες των πολιτών.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ctrTitle"/>
          </p:nvPr>
        </p:nvSpPr>
        <p:spPr>
          <a:xfrm>
            <a:off x="3687800" y="71175"/>
            <a:ext cx="5389500" cy="4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000">
                <a:latin typeface="Ubuntu"/>
                <a:ea typeface="Ubuntu"/>
                <a:cs typeface="Ubuntu"/>
                <a:sym typeface="Ubuntu"/>
              </a:rPr>
              <a:t>Λύση: Ενοποιημένο RMS (</a:t>
            </a:r>
            <a:r>
              <a:rPr lang="el" sz="2000">
                <a:latin typeface="Ubuntu"/>
                <a:ea typeface="Ubuntu"/>
                <a:cs typeface="Ubuntu"/>
                <a:sym typeface="Ubuntu"/>
              </a:rPr>
              <a:t>EfficienCity)</a:t>
            </a:r>
            <a:endParaRPr sz="20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092575" y="1104075"/>
            <a:ext cx="5682900" cy="3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Char char="●"/>
            </a:pPr>
            <a:r>
              <a:rPr lang="el">
                <a:latin typeface="Ubuntu"/>
                <a:ea typeface="Ubuntu"/>
                <a:cs typeface="Ubuntu"/>
                <a:sym typeface="Ubuntu"/>
              </a:rPr>
              <a:t>Κεντρική Βάση Δεδομένων: Συγκεντρώνει όλους τους πόρους των δήμων σε πραγματικό χρόνο.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Char char="●"/>
            </a:pPr>
            <a:r>
              <a:rPr lang="el">
                <a:latin typeface="Ubuntu"/>
                <a:ea typeface="Ubuntu"/>
                <a:cs typeface="Ubuntu"/>
                <a:sym typeface="Ubuntu"/>
              </a:rPr>
              <a:t>Διαχείριση Πόρων: Αίτηση, διάθεση και βέλτιστη αξιοποίηση εξοπλισμού.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Char char="●"/>
            </a:pPr>
            <a:r>
              <a:rPr lang="el">
                <a:latin typeface="Ubuntu"/>
                <a:ea typeface="Ubuntu"/>
                <a:cs typeface="Ubuntu"/>
                <a:sym typeface="Ubuntu"/>
              </a:rPr>
              <a:t>Αναφορές &amp; Analytics: Παραγωγή στατιστικών και αναλυτικών reports για στρατηγικό σχεδιασμό.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Char char="●"/>
            </a:pPr>
            <a:r>
              <a:rPr lang="el">
                <a:latin typeface="Ubuntu"/>
                <a:ea typeface="Ubuntu"/>
                <a:cs typeface="Ubuntu"/>
                <a:sym typeface="Ubuntu"/>
              </a:rPr>
              <a:t>Διαφάνεια Πολιτών: Πρόσβαση σε δημόσια δεδομένα και στατιστικά με δικαιώματα ανάγνωσης.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Char char="●"/>
            </a:pPr>
            <a:r>
              <a:rPr lang="el">
                <a:latin typeface="Ubuntu"/>
                <a:ea typeface="Ubuntu"/>
                <a:cs typeface="Ubuntu"/>
                <a:sym typeface="Ubuntu"/>
              </a:rPr>
              <a:t>Blockchain: Ασφαλής καταγραφή και ιχνηλασιμότητα συναλλαγών μεταξύ δήμων.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Char char="●"/>
            </a:pPr>
            <a:r>
              <a:rPr lang="el">
                <a:latin typeface="Ubuntu"/>
                <a:ea typeface="Ubuntu"/>
                <a:cs typeface="Ubuntu"/>
                <a:sym typeface="Ubuntu"/>
              </a:rPr>
              <a:t>Συνεργασία &amp; Αποδοτικότητα: Διευκολύνει τη μεταφορά και διάθεση πόρων, μειώνοντας κόστος και αδράνεια.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Char char="●"/>
            </a:pPr>
            <a:r>
              <a:rPr lang="el">
                <a:latin typeface="Ubuntu"/>
                <a:ea typeface="Ubuntu"/>
                <a:cs typeface="Ubuntu"/>
                <a:sym typeface="Ubuntu"/>
              </a:rPr>
              <a:t>Βιώσιμη Ανάπτυξη: Υποστηρίζει αποδοτικότερη χρήση πόρων και βελτίωση υπηρεσιών προς πολίτες.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ctrTitle"/>
          </p:nvPr>
        </p:nvSpPr>
        <p:spPr>
          <a:xfrm>
            <a:off x="3917100" y="76600"/>
            <a:ext cx="3696600" cy="5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000">
                <a:latin typeface="Ubuntu"/>
                <a:ea typeface="Ubuntu"/>
                <a:cs typeface="Ubuntu"/>
                <a:sym typeface="Ubuntu"/>
              </a:rPr>
              <a:t>Χρηστες</a:t>
            </a:r>
            <a:endParaRPr sz="20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171050" y="1089125"/>
            <a:ext cx="5538300" cy="34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l" sz="1310">
                <a:latin typeface="Ubuntu"/>
                <a:ea typeface="Ubuntu"/>
                <a:cs typeface="Ubuntu"/>
                <a:sym typeface="Ubuntu"/>
              </a:rPr>
              <a:t>Δημοτικές Αρχές</a:t>
            </a:r>
            <a:endParaRPr b="1" i="1"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Πρόσβαση και διαχείριση πόρων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Διάθεση και αίτηση εξοπλισμού σε και από άλλους δήμους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Πρόσβαση και εξαγωγή στατιστικών δεδομένων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l" sz="1310">
                <a:latin typeface="Ubuntu"/>
                <a:ea typeface="Ubuntu"/>
                <a:cs typeface="Ubuntu"/>
                <a:sym typeface="Ubuntu"/>
              </a:rPr>
              <a:t>Πολίτες</a:t>
            </a:r>
            <a:endParaRPr b="1" i="1"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Ενημέρωση για διαθέσιμους πόρους και συναλλαγές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Πρόσβαση σε βασικά στατιστικά και αναφορές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l" sz="1310">
                <a:latin typeface="Ubuntu"/>
                <a:ea typeface="Ubuntu"/>
                <a:cs typeface="Ubuntu"/>
                <a:sym typeface="Ubuntu"/>
              </a:rPr>
              <a:t>Διαχειριστές Συστήματο</a:t>
            </a:r>
            <a:r>
              <a:rPr b="1" i="1" lang="el" sz="1310">
                <a:latin typeface="Ubuntu"/>
                <a:ea typeface="Ubuntu"/>
                <a:cs typeface="Ubuntu"/>
                <a:sym typeface="Ubuntu"/>
              </a:rPr>
              <a:t>ς</a:t>
            </a:r>
            <a:endParaRPr b="1" i="1"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Διαχείριση δικαιωμάτων πρόσβασης χρηστών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Παρακολούθηση ομαλής λειτουργίας συστήματος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Δημιουργία και επαναφορά αντιγράφων ασφαλείας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ctrTitle"/>
          </p:nvPr>
        </p:nvSpPr>
        <p:spPr>
          <a:xfrm>
            <a:off x="3922500" y="90650"/>
            <a:ext cx="3680100" cy="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000">
                <a:latin typeface="Ubuntu"/>
                <a:ea typeface="Ubuntu"/>
                <a:cs typeface="Ubuntu"/>
                <a:sym typeface="Ubuntu"/>
              </a:rPr>
              <a:t>Απαιτησεις</a:t>
            </a:r>
            <a:endParaRPr sz="20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2955675" y="1146375"/>
            <a:ext cx="60531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3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Λειτουργικές Απαιτήσεις</a:t>
            </a:r>
            <a:endParaRPr b="1" sz="13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AutoNum type="arabicPeriod"/>
            </a:pPr>
            <a:r>
              <a:rPr lang="el" sz="13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Καταγραφή και ενημέρωση διαθέσιμων πόρων (οχήματα, εξοπλισμός, μηχανήματα)</a:t>
            </a:r>
            <a:endParaRPr sz="13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AutoNum type="arabicPeriod"/>
            </a:pPr>
            <a:r>
              <a:rPr lang="el" sz="13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Υποβολή αιτήσεων για παροχή πόρων σε άλλους δήμους</a:t>
            </a:r>
            <a:endParaRPr sz="13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AutoNum type="arabicPeriod"/>
            </a:pPr>
            <a:r>
              <a:rPr lang="el" sz="13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Διάθεση πόρων προς άλλους δήμους</a:t>
            </a:r>
            <a:endParaRPr sz="13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AutoNum type="arabicPeriod"/>
            </a:pPr>
            <a:r>
              <a:rPr lang="el" sz="13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Πραγματικός χρόνος ορατότητας διαθεσιμότητας πόρων όλων των δήμων</a:t>
            </a:r>
            <a:endParaRPr sz="13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AutoNum type="arabicPeriod"/>
            </a:pPr>
            <a:r>
              <a:rPr lang="el" sz="13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Πρόσβαση πολιτών στη δημόσια βάση και blockchain για ενημέρωση</a:t>
            </a:r>
            <a:endParaRPr sz="13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AutoNum type="arabicPeriod"/>
            </a:pPr>
            <a:r>
              <a:rPr lang="el" sz="13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Διαχείριση δικαιωμάτων πρόσβασης ανά τύπο χρήστη (RBAC)</a:t>
            </a:r>
            <a:endParaRPr sz="13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AutoNum type="arabicPeriod"/>
            </a:pPr>
            <a:r>
              <a:rPr lang="el" sz="13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Παραγωγή στατιστικών αναφορών για αξιολόγηση χρήσης πόρων</a:t>
            </a:r>
            <a:endParaRPr sz="13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AutoNum type="arabicPeriod"/>
            </a:pPr>
            <a:r>
              <a:rPr lang="el" sz="13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Δυνατότητα εξαγωγής αναφορών για περαιτέρω ανάλυση</a:t>
            </a:r>
            <a:endParaRPr sz="13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ctrTitle"/>
          </p:nvPr>
        </p:nvSpPr>
        <p:spPr>
          <a:xfrm>
            <a:off x="3922500" y="90650"/>
            <a:ext cx="3680100" cy="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000">
                <a:latin typeface="Ubuntu"/>
                <a:ea typeface="Ubuntu"/>
                <a:cs typeface="Ubuntu"/>
                <a:sym typeface="Ubuntu"/>
              </a:rPr>
              <a:t>Απαιτησεις</a:t>
            </a:r>
            <a:endParaRPr sz="20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2955675" y="1146375"/>
            <a:ext cx="60531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3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Μη Λειτουργικές Απαιτήσεις</a:t>
            </a:r>
            <a:endParaRPr b="1" sz="13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AutoNum type="arabicPeriod"/>
            </a:pPr>
            <a:r>
              <a:rPr lang="el" sz="13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Φιλικό και εύχρηστο UI για πλοήγηση και αναζήτηση πόρων</a:t>
            </a:r>
            <a:endParaRPr sz="13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AutoNum type="arabicPeriod"/>
            </a:pPr>
            <a:r>
              <a:rPr lang="el" sz="13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Ασφάλεια δεδομένων: κρυπτογράφηση, role-based access, GDPR compliant</a:t>
            </a:r>
            <a:endParaRPr sz="13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AutoNum type="arabicPeriod"/>
            </a:pPr>
            <a:r>
              <a:rPr lang="el" sz="13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Επεκτασιμότητα: προσθήκη νέων δήμων και δεδομένων χωρίς περιορισμούς</a:t>
            </a:r>
            <a:endParaRPr sz="13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AutoNum type="arabicPeriod"/>
            </a:pPr>
            <a:r>
              <a:rPr lang="el" sz="13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Υψηλή διαθεσιμότητα: uptime ≥ 99%</a:t>
            </a:r>
            <a:endParaRPr sz="13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AutoNum type="arabicPeriod"/>
            </a:pPr>
            <a:r>
              <a:rPr lang="el" sz="13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Γρήγορη απόκριση: βασικές ενέργειες ≤ 3 δευτερόλεπτα</a:t>
            </a:r>
            <a:endParaRPr sz="13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buntu"/>
              <a:buAutoNum type="arabicPeriod"/>
            </a:pPr>
            <a:r>
              <a:rPr lang="el" sz="13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Δημιουργία και επαναφορά αντιγράφων ασφαλείας για διασφάλιση δεδομένων</a:t>
            </a:r>
            <a:endParaRPr sz="13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ctrTitle"/>
          </p:nvPr>
        </p:nvSpPr>
        <p:spPr>
          <a:xfrm>
            <a:off x="3815475" y="71175"/>
            <a:ext cx="3886800" cy="5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000">
                <a:latin typeface="Ubuntu"/>
                <a:ea typeface="Ubuntu"/>
                <a:cs typeface="Ubuntu"/>
                <a:sym typeface="Ubuntu"/>
              </a:rPr>
              <a:t>Περιορισμοι</a:t>
            </a:r>
            <a:endParaRPr sz="20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72" name="Google Shape;172;p19"/>
          <p:cNvSpPr txBox="1"/>
          <p:nvPr>
            <p:ph idx="1" type="subTitle"/>
          </p:nvPr>
        </p:nvSpPr>
        <p:spPr>
          <a:xfrm>
            <a:off x="2968950" y="1199300"/>
            <a:ext cx="6128400" cy="18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310">
                <a:latin typeface="Ubuntu"/>
                <a:ea typeface="Ubuntu"/>
                <a:cs typeface="Ubuntu"/>
                <a:sym typeface="Ubuntu"/>
              </a:rPr>
              <a:t>Κανονιστικοί / Νομικοί Περιορισμοί</a:t>
            </a:r>
            <a:endParaRPr b="1"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Συμμόρφωση με GDPR: Προστασία προσωπικών δεδομένων πολιτών και υπαλλήλων.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Αποθήκευση δεδομένων εντός ΕΕ: Συμβατότητα με ευρωπαϊκές πολιτικές ασφαλείας.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Νομική επαλήθευση συναλλαγών μέσω Blockchain: Οι συναλλαγές είναι ελέγξιμες από κρατικούς φορείς.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ctrTitle"/>
          </p:nvPr>
        </p:nvSpPr>
        <p:spPr>
          <a:xfrm>
            <a:off x="3815475" y="71175"/>
            <a:ext cx="3886800" cy="5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000">
                <a:latin typeface="Ubuntu"/>
                <a:ea typeface="Ubuntu"/>
                <a:cs typeface="Ubuntu"/>
                <a:sym typeface="Ubuntu"/>
              </a:rPr>
              <a:t>Περιορισμοι</a:t>
            </a:r>
            <a:endParaRPr sz="20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78" name="Google Shape;178;p20"/>
          <p:cNvSpPr txBox="1"/>
          <p:nvPr>
            <p:ph idx="1" type="subTitle"/>
          </p:nvPr>
        </p:nvSpPr>
        <p:spPr>
          <a:xfrm>
            <a:off x="2968950" y="1199300"/>
            <a:ext cx="6128400" cy="29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310">
                <a:latin typeface="Ubuntu"/>
                <a:ea typeface="Ubuntu"/>
                <a:cs typeface="Ubuntu"/>
                <a:sym typeface="Ubuntu"/>
              </a:rPr>
              <a:t>Λειτουργικοί Περιορισμοί</a:t>
            </a:r>
            <a:endParaRPr b="1"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Ενημέρωση βάσης δεδομένων σε προκαθορισμένα διαστήματα για συνέπεια και αποφυγή διπλών εγγραφών.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Δικαιώματα πρόσβασης: Πολίτες (ανάγνωση), Δήμοι (εισαγωγή/τροποποίηση) για ασφάλεια και διαφάνεια.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310">
                <a:latin typeface="Ubuntu"/>
                <a:ea typeface="Ubuntu"/>
                <a:cs typeface="Ubuntu"/>
                <a:sym typeface="Ubuntu"/>
              </a:rPr>
              <a:t>Τεχνικοί Περιορισμοί</a:t>
            </a:r>
            <a:endParaRPr b="1"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Λειτουργία σε web περιβάλλον (browser-based) για εύκολη πρόσβαση χωρίς εγκατάσταση.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Υποστήριξη πολλαπλών ταυτόχρονων συνδέσεων για κλιμάκωση και διαχείριση concurrency.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Ασφάλεια επικοινωνίας: HTTPS, SSL/TLS και κρυπτογράφηση δεδομένων.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ctrTitle"/>
          </p:nvPr>
        </p:nvSpPr>
        <p:spPr>
          <a:xfrm>
            <a:off x="3815475" y="71175"/>
            <a:ext cx="3886800" cy="5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000">
                <a:latin typeface="Ubuntu"/>
                <a:ea typeface="Ubuntu"/>
                <a:cs typeface="Ubuntu"/>
                <a:sym typeface="Ubuntu"/>
              </a:rPr>
              <a:t>Root Cause Analysis</a:t>
            </a:r>
            <a:endParaRPr sz="20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89" name="Google Shape;189;p22"/>
          <p:cNvSpPr txBox="1"/>
          <p:nvPr>
            <p:ph idx="1" type="subTitle"/>
          </p:nvPr>
        </p:nvSpPr>
        <p:spPr>
          <a:xfrm>
            <a:off x="2962480" y="1199300"/>
            <a:ext cx="6128400" cy="25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b="1" lang="el" sz="1310">
                <a:latin typeface="Ubuntu"/>
                <a:ea typeface="Ubuntu"/>
                <a:cs typeface="Ubuntu"/>
                <a:sym typeface="Ubuntu"/>
              </a:rPr>
              <a:t>Έλλειψη κοινής βάσης δεδομένων πόρων</a:t>
            </a:r>
            <a:r>
              <a:rPr lang="el" sz="1310">
                <a:latin typeface="Ubuntu"/>
                <a:ea typeface="Ubuntu"/>
                <a:cs typeface="Ubuntu"/>
                <a:sym typeface="Ubuntu"/>
              </a:rPr>
              <a:t> → Οι δήμοι διαχειρίζονται τα στοιχεία ξεχωριστά, χωρίς συγκεντρωμένη ορατότητα.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b="1" lang="el" sz="1310">
                <a:latin typeface="Ubuntu"/>
                <a:ea typeface="Ubuntu"/>
                <a:cs typeface="Ubuntu"/>
                <a:sym typeface="Ubuntu"/>
              </a:rPr>
              <a:t>Χειροκίνητες διαδικασίες αγοράς</a:t>
            </a:r>
            <a:r>
              <a:rPr lang="el" sz="1310">
                <a:latin typeface="Ubuntu"/>
                <a:ea typeface="Ubuntu"/>
                <a:cs typeface="Ubuntu"/>
                <a:sym typeface="Ubuntu"/>
              </a:rPr>
              <a:t> → Καθυστερήσεις και αυξημένα έξοδα λόγω μη αυτοματοποιημένων διαδικασιών καταγραφής, έγκρισης και αγοράς.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b="1" lang="el" sz="1310">
                <a:latin typeface="Ubuntu"/>
                <a:ea typeface="Ubuntu"/>
                <a:cs typeface="Ubuntu"/>
                <a:sym typeface="Ubuntu"/>
              </a:rPr>
              <a:t>Περιο</a:t>
            </a:r>
            <a:r>
              <a:rPr b="1" lang="el" sz="1310">
                <a:latin typeface="Ubuntu"/>
                <a:ea typeface="Ubuntu"/>
                <a:cs typeface="Ubuntu"/>
                <a:sym typeface="Ubuntu"/>
              </a:rPr>
              <a:t>ρ</a:t>
            </a:r>
            <a:r>
              <a:rPr b="1" lang="el" sz="1310">
                <a:latin typeface="Ubuntu"/>
                <a:ea typeface="Ubuntu"/>
                <a:cs typeface="Ubuntu"/>
                <a:sym typeface="Ubuntu"/>
              </a:rPr>
              <a:t>ισμένη διαφάνεια κόστους και χρήσης πόρων</a:t>
            </a:r>
            <a:r>
              <a:rPr lang="el" sz="1310">
                <a:latin typeface="Ubuntu"/>
                <a:ea typeface="Ubuntu"/>
                <a:cs typeface="Ubuntu"/>
                <a:sym typeface="Ubuntu"/>
              </a:rPr>
              <a:t> → Δυσκολία ελέγχου προϋπολογισμού και παρακολούθησης δαπανών.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b="1" lang="el" sz="1310">
                <a:latin typeface="Ubuntu"/>
                <a:ea typeface="Ubuntu"/>
                <a:cs typeface="Ubuntu"/>
                <a:sym typeface="Ubuntu"/>
              </a:rPr>
              <a:t>Κατανεμημένα δεδομένα σε πολλαπλά συστήματα</a:t>
            </a:r>
            <a:r>
              <a:rPr lang="el" sz="1310">
                <a:latin typeface="Ubuntu"/>
                <a:ea typeface="Ubuntu"/>
                <a:cs typeface="Ubuntu"/>
                <a:sym typeface="Ubuntu"/>
              </a:rPr>
              <a:t> → Απαιτείται επαναληπτική καταγραφή και συντονισμός, αυξάνοντας χρόνο και κόστος εργασίας.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ctrTitle"/>
          </p:nvPr>
        </p:nvSpPr>
        <p:spPr>
          <a:xfrm>
            <a:off x="3815475" y="71175"/>
            <a:ext cx="3886800" cy="5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000">
                <a:latin typeface="Ubuntu"/>
                <a:ea typeface="Ubuntu"/>
                <a:cs typeface="Ubuntu"/>
                <a:sym typeface="Ubuntu"/>
              </a:rPr>
              <a:t>SWOT Analysis</a:t>
            </a:r>
            <a:endParaRPr sz="20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95" name="Google Shape;195;p23"/>
          <p:cNvSpPr txBox="1"/>
          <p:nvPr>
            <p:ph idx="1" type="subTitle"/>
          </p:nvPr>
        </p:nvSpPr>
        <p:spPr>
          <a:xfrm>
            <a:off x="2962480" y="1199300"/>
            <a:ext cx="6128400" cy="25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310">
                <a:latin typeface="Ubuntu"/>
                <a:ea typeface="Ubuntu"/>
                <a:cs typeface="Ubuntu"/>
                <a:sym typeface="Ubuntu"/>
              </a:rPr>
              <a:t>Strengths (Δυνατά Σημεία)</a:t>
            </a:r>
            <a:endParaRPr b="1"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Κάθε δήμος γνωρίζει τις ανάγκες και τους διαθέσιμους πόρους του.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Υπάρχουν υπάρχουσες υποδομές και προσωπικό για αγορές και καταγραφή πόρων.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310">
                <a:latin typeface="Ubuntu"/>
                <a:ea typeface="Ubuntu"/>
                <a:cs typeface="Ubuntu"/>
                <a:sym typeface="Ubuntu"/>
              </a:rPr>
              <a:t>Weaknesses (Αδυναμίες)</a:t>
            </a:r>
            <a:endParaRPr b="1"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Απουσία κεντρικής βάσης δεδομένων.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Έλλειψη ακεραιότητας δεδομένων.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Χειροκίνητες διαδικασίες.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Αδυναμία τεκμηρίωσης και ιχνηλασιμότητας ενεργειών.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ctrTitle"/>
          </p:nvPr>
        </p:nvSpPr>
        <p:spPr>
          <a:xfrm>
            <a:off x="3815475" y="71175"/>
            <a:ext cx="3886800" cy="5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000">
                <a:latin typeface="Ubuntu"/>
                <a:ea typeface="Ubuntu"/>
                <a:cs typeface="Ubuntu"/>
                <a:sym typeface="Ubuntu"/>
              </a:rPr>
              <a:t>SWOT Analysis</a:t>
            </a:r>
            <a:endParaRPr sz="20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01" name="Google Shape;201;p24"/>
          <p:cNvSpPr txBox="1"/>
          <p:nvPr>
            <p:ph idx="1" type="subTitle"/>
          </p:nvPr>
        </p:nvSpPr>
        <p:spPr>
          <a:xfrm>
            <a:off x="2962480" y="1199300"/>
            <a:ext cx="6128400" cy="25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310">
                <a:latin typeface="Ubuntu"/>
                <a:ea typeface="Ubuntu"/>
                <a:cs typeface="Ubuntu"/>
                <a:sym typeface="Ubuntu"/>
              </a:rPr>
              <a:t>Opportunities (Ευκαιρίες)</a:t>
            </a:r>
            <a:endParaRPr b="1"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Δημιουργία ενιαίου RMS για όλους τους δήμους.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Μείωση κόστους μέσω συνεργασίας και κοινής διαχείρισης πόρων.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Ενίσχυση διαφάνειας και εμπιστοσύνης των πολιτών.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310">
                <a:latin typeface="Ubuntu"/>
                <a:ea typeface="Ubuntu"/>
                <a:cs typeface="Ubuntu"/>
                <a:sym typeface="Ubuntu"/>
              </a:rPr>
              <a:t>Threats (Απειλές)</a:t>
            </a:r>
            <a:endParaRPr b="1"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Αντίσταση αλλαγής από δήμους.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Κόστος υλοποίησης και συντήρησης.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Τεχνικές προκλήσεις κατά την ενσωμάτωση δεδομένων και workflows.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ctrTitle"/>
          </p:nvPr>
        </p:nvSpPr>
        <p:spPr>
          <a:xfrm>
            <a:off x="3815475" y="71175"/>
            <a:ext cx="4595400" cy="5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000">
                <a:latin typeface="Ubuntu"/>
                <a:ea typeface="Ubuntu"/>
                <a:cs typeface="Ubuntu"/>
                <a:sym typeface="Ubuntu"/>
              </a:rPr>
              <a:t>Σχεδίαση στόχου  (“to‑be”) </a:t>
            </a:r>
            <a:endParaRPr sz="20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07" name="Google Shape;207;p25"/>
          <p:cNvSpPr txBox="1"/>
          <p:nvPr>
            <p:ph idx="1" type="subTitle"/>
          </p:nvPr>
        </p:nvSpPr>
        <p:spPr>
          <a:xfrm>
            <a:off x="2962475" y="1199300"/>
            <a:ext cx="6128400" cy="27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AutoNum type="arabicPeriod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Ενιαία βάση δεδομένων πόρων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AutoNum type="arabicPeriod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Διαχείριση αιτήσεων διάθεσης/απόκτησης πόρων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AutoNum type="arabicPeriod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Καταγραφή και παρακολούθηση χρήσης πόρων (Traceability)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AutoNum type="arabicPeriod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Διαφάνεια συναλλαγών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AutoNum type="arabicPeriod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Φιλικό User Interface (UI)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AutoNum type="arabicPeriod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Αναφορές &amp; Στατιστικά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AutoNum type="arabicPeriod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Δικαιώματα πρόσβασης &amp; ασφάλεια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AutoNum type="arabicPeriod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Διαθεσιμότητα και αξιοπιστία συστήματος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AutoNum type="arabicPeriod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Διαφάνεια &amp; Blockchain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AutoNum type="arabicPeriod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Κλιμάκωση / Scalability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AutoNum type="arabicPeriod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Backup &amp; Recovery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ctrTitle"/>
          </p:nvPr>
        </p:nvSpPr>
        <p:spPr>
          <a:xfrm>
            <a:off x="3394950" y="77650"/>
            <a:ext cx="4595400" cy="5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000">
                <a:latin typeface="Ubuntu"/>
                <a:ea typeface="Ubuntu"/>
                <a:cs typeface="Ubuntu"/>
                <a:sym typeface="Ubuntu"/>
              </a:rPr>
              <a:t>Μετρικές - KPIs</a:t>
            </a:r>
            <a:endParaRPr sz="20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13" name="Google Shape;213;p26"/>
          <p:cNvSpPr txBox="1"/>
          <p:nvPr>
            <p:ph idx="1" type="subTitle"/>
          </p:nvPr>
        </p:nvSpPr>
        <p:spPr>
          <a:xfrm>
            <a:off x="2962475" y="1199300"/>
            <a:ext cx="6128400" cy="3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➔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Χρόνος ολοκλήρωσης διάθεσης πόρου: πόσο γρήγορα διατίθεται ένας πόρος.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➔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Αξιοποίηση πόρων: ποσοστό χρήσης πόρων σε σχέση με τον διαθέσιμο χρόνο.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➔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Μείωση αδράνειας πόρων: ποσοστό χρόνου που οι πόροι μένουν ανεκμετάλλευτοι.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➔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Χρόνος κράτησης → διάθεσης: μέσος χρόνος από την αίτηση μέχρι τη χρήση του πόρου.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➔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Διαθεσιμότητα πόρων: ποσοστό πόρων έτοιμων προς χρήση ανά πάσα στιγμή.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➔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Διαφάνεια συναλλαγών: ποσοστό συναλλαγών πλήρως καταγεγραμμένων.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➔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Ικανοποίηση χρηστών: βαθμολογία χρηστών για ευκολία και εμπειρία χρήσης.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ctrTitle"/>
          </p:nvPr>
        </p:nvSpPr>
        <p:spPr>
          <a:xfrm>
            <a:off x="3815475" y="71175"/>
            <a:ext cx="4595400" cy="5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000">
                <a:latin typeface="Ubuntu"/>
                <a:ea typeface="Ubuntu"/>
                <a:cs typeface="Ubuntu"/>
                <a:sym typeface="Ubuntu"/>
              </a:rPr>
              <a:t>Κριτήρια Αποδοχής</a:t>
            </a:r>
            <a:endParaRPr sz="20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19" name="Google Shape;219;p27"/>
          <p:cNvSpPr txBox="1"/>
          <p:nvPr>
            <p:ph idx="1" type="subTitle"/>
          </p:nvPr>
        </p:nvSpPr>
        <p:spPr>
          <a:xfrm>
            <a:off x="2962475" y="1199300"/>
            <a:ext cx="6128400" cy="27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❖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Προσβασιμότητα: web app, mobile &amp; desktop, σωστή αντίθεση, πληκτρολόγιο.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❖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Χρηστικότητα: βασικές ενέργειες ολοκληρώνονται γρήγορα, με σαφές feedback.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❖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Απόδοση: latency &lt;1 δευτερόλεπτο, uptime &gt;99.9%.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❖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Ασφάλεια: κρυπτογράφηση, role-based access, audit logs, GDPR compliant.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❖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Βιωσιμότητα / Ethics: χαμηλή κατανάλωση ενέργειας, συμμόρφωση με πράσινες πολιτικές.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ctrTitle"/>
          </p:nvPr>
        </p:nvSpPr>
        <p:spPr>
          <a:xfrm>
            <a:off x="3213775" y="2288100"/>
            <a:ext cx="4595400" cy="5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400">
                <a:latin typeface="Ubuntu"/>
                <a:ea typeface="Ubuntu"/>
                <a:cs typeface="Ubuntu"/>
                <a:sym typeface="Ubuntu"/>
              </a:rPr>
              <a:t>Σας ευχαριστούμε</a:t>
            </a:r>
            <a:endParaRPr sz="200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